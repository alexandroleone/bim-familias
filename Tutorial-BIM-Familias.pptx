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A8D43-0908-4EAC-BEFC-86E8D33C3701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422BF-C453-4ED3-BB5A-966EAA7C90DE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736600" y="9652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b="1">
                <a:solidFill>
                  <a:srgbClr val="8EDBE0"/>
                </a:solidFill>
                <a:latin typeface="Arial"/>
              </a:rPr>
              <a:t>BIBLIOTECA DE FAMILIAS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6600" y="1625600"/>
            <a:ext cx="10414000" cy="1066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4200" b="1">
                <a:solidFill>
                  <a:srgbClr val="FFFFFF"/>
                </a:solidFill>
                <a:latin typeface="Arial"/>
              </a:rPr>
              <a:t>Familias, ao seu alcance.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87400" y="30226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100" b="0">
                <a:solidFill>
                  <a:srgbClr val="D7E5EA"/>
                </a:solidFill>
                <a:latin typeface="Arial"/>
              </a:rPr>
              <a:t>Tutorial completo do plugin BIM para Revit</a:t>
            </a:r>
          </a:p>
        </p:txBody>
      </p:sp>
      <p:sp>
        <p:nvSpPr>
          <p:cNvPr id="7" name="Shape 7"/>
          <p:cNvSpPr/>
          <p:nvPr/>
        </p:nvSpPr>
        <p:spPr>
          <a:xfrm>
            <a:off x="787400" y="4000500"/>
            <a:ext cx="8382000" cy="254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87400" y="4318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500" b="0">
                <a:solidFill>
                  <a:srgbClr val="D7E5EA"/>
                </a:solidFill>
                <a:latin typeface="Arial"/>
              </a:rPr>
              <a:t>Pesquisa - categorias - carregamento - insercao - atualizacao - organizacao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7400" y="56515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b="1">
                <a:solidFill>
                  <a:srgbClr val="8EDBE0"/>
                </a:solidFill>
                <a:latin typeface="Arial"/>
              </a:rPr>
              <a:t>Demonstracao baseada no Revit 2027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795000" y="5715000"/>
            <a:ext cx="889000" cy="508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Comece pelo acesso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01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</a:t>
            </a:r>
          </a:p>
        </p:txBody>
      </p:sp>
      <p:sp>
        <p:nvSpPr>
          <p:cNvPr id="9" name="Shape 9"/>
          <p:cNvSpPr/>
          <p:nvPr/>
        </p:nvSpPr>
        <p:spPr>
          <a:xfrm>
            <a:off x="825500" y="1397000"/>
            <a:ext cx="101600" cy="3683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333500" y="1422400"/>
            <a:ext cx="2286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400" b="1">
                <a:solidFill>
                  <a:srgbClr val="8EDBE0"/>
                </a:solidFill>
                <a:latin typeface="Arial"/>
              </a:rPr>
              <a:t>01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33500" y="2413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182B3A"/>
                </a:solidFill>
                <a:latin typeface="Arial"/>
              </a:rPr>
              <a:t>Comece pelo acesso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58900" y="3619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5B6872"/>
                </a:solidFill>
                <a:latin typeface="Arial"/>
              </a:rPr>
              <a:t>Instalacao, projeto aberto e ativacao do plugin.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O que voce vai aprender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INTRODUCAO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Encontrar familias por busca e categorias.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Escolher favoritos, recentes, duplicadas e itens a revisar.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Carregar e inserir a familia na planta.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Atualizar RFA, acompanhar percentual e gerar relatorio.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Organizar a biblioteca sem mexer em Projeto.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Visao geral da biblioteca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INTRODUCAO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9525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b="0">
                <a:solidFill>
                  <a:srgbClr val="5B6872"/>
                </a:solidFill>
                <a:latin typeface="Arial"/>
              </a:rPr>
              <a:t>A tela combina categorias, busca, filtros, cartoes, painel Em foco e acoes em lote. O indice local informa quando a biblioteca esta pronta.</a:t>
            </a:r>
          </a:p>
        </p:txBody>
      </p:sp>
      <p:sp>
        <p:nvSpPr>
          <p:cNvPr id="10" name="Shape 10"/>
          <p:cNvSpPr/>
          <p:nvPr/>
        </p:nvSpPr>
        <p:spPr>
          <a:xfrm>
            <a:off x="368300" y="1358900"/>
            <a:ext cx="114554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2871" y="1422400"/>
            <a:ext cx="920625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Antes de comecar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PREPARACAO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- 5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Abra um projeto do Revit.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Confirme a pasta da biblioteca, por exemplo E:\Projeto Em Andamento\#Familia.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Nao mova nem altere a pasta de projetos.</a:t>
            </a:r>
          </a:p>
          <a:p>
            <a:r>
              <a:rPr lang="pt-BR" sz="1600" b="0">
                <a:solidFill>
                  <a:srgbClr val="1F2933"/>
                </a:solidFill>
                <a:latin typeface="Arial"/>
              </a:rPr>
              <a:t>- Faca backup antes de excluir ou atualizar em lote.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Instalacao em um unico EXE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PREPARACAO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Feche o Revit, execute o instalador unico, escolha a versao instalada e abra o Revit novamente. Se o EXE for bloqueado, use o pacote alternativo com mais arquivos.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Abrir o projeto no Revit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PRIMEIRO ACESSO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- 7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Abra a vista em que deseja inserir. A biblioteca trabalha com um projeto aberto e deixa a planta pronta para receber o componente.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Localizar a aba Familia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PRIMEIRO ACESSO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- 8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Clique em Familia. Biblioteca de Familias abre o painel principal; Ativador mostra o estado da licenca, o teste e as opcoes de ativacao.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Verificar o estado do sistema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ATIVACAO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- 9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O status indica se o sistema esta ativado. Quando nao esta, a tela oferece Ativar agora, Solicitar ativacao e Teste por 7 dias.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33274"/>
            <a:ext cx="6350000" cy="3423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Ativar ou iniciar o teste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ATIVACAO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 tela mostra a hora local e o campo do codigo. Use Solicitar ativacao, Teste por 7 dias, Ativar ou Sair conforme a situacao.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785854"/>
            <a:ext cx="6350000" cy="3718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Entender a validade do codigo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ATIVACAO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O padrao e 880-HH-DDMM: 880 e fixo, HH representa a hora e DDMM representa dia e mes. O codigo e aceito somente dentro da hora correspondente.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785854"/>
            <a:ext cx="6350000" cy="3718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Periodo de teste e status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ATIVACAO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- 12</a:t>
            </a:r>
          </a:p>
        </p:txBody>
      </p:sp>
      <p:sp>
        <p:nvSpPr>
          <p:cNvPr id="9" name="Shape 9"/>
          <p:cNvSpPr/>
          <p:nvPr/>
        </p:nvSpPr>
        <p:spPr>
          <a:xfrm>
            <a:off x="698500" y="1587500"/>
            <a:ext cx="3302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98500" y="1587500"/>
            <a:ext cx="88900" cy="18415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52500" y="17907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Ativado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52500" y="2222500"/>
            <a:ext cx="2857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Biblioteca liberada para uso normal.</a:t>
            </a:r>
          </a:p>
        </p:txBody>
      </p:sp>
      <p:sp>
        <p:nvSpPr>
          <p:cNvPr id="13" name="Shape 13"/>
          <p:cNvSpPr/>
          <p:nvPr/>
        </p:nvSpPr>
        <p:spPr>
          <a:xfrm>
            <a:off x="4445000" y="1587500"/>
            <a:ext cx="3302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445000" y="1587500"/>
            <a:ext cx="88900" cy="1841500"/>
          </a:xfrm>
          <a:prstGeom prst="rect">
            <a:avLst/>
          </a:prstGeom>
          <a:solidFill>
            <a:srgbClr val="D49A2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99000" y="17907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Teste ativo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699000" y="2222500"/>
            <a:ext cx="2857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Mostra quantos dias, horas e minutos ainda estao disponiveis.</a:t>
            </a:r>
          </a:p>
        </p:txBody>
      </p:sp>
      <p:sp>
        <p:nvSpPr>
          <p:cNvPr id="17" name="Shape 17"/>
          <p:cNvSpPr/>
          <p:nvPr/>
        </p:nvSpPr>
        <p:spPr>
          <a:xfrm>
            <a:off x="8191500" y="1587500"/>
            <a:ext cx="3302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91500" y="1587500"/>
            <a:ext cx="88900" cy="1841500"/>
          </a:xfrm>
          <a:prstGeom prst="rect">
            <a:avLst/>
          </a:prstGeom>
          <a:solidFill>
            <a:srgbClr val="B43C3C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445500" y="17907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Nao ativado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45500" y="2222500"/>
            <a:ext cx="2857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Permite ativar agora, solicitar codigo ou iniciar o teste.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98500" y="43815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0">
                <a:solidFill>
                  <a:srgbClr val="5B6872"/>
                </a:solidFill>
                <a:latin typeface="Arial"/>
              </a:rPr>
              <a:t>Ative antes de distribuir o plugin e documente o codigo fora do projeto.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Encontre qualquer familia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02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- 13</a:t>
            </a:r>
          </a:p>
        </p:txBody>
      </p:sp>
      <p:sp>
        <p:nvSpPr>
          <p:cNvPr id="9" name="Shape 9"/>
          <p:cNvSpPr/>
          <p:nvPr/>
        </p:nvSpPr>
        <p:spPr>
          <a:xfrm>
            <a:off x="825500" y="1397000"/>
            <a:ext cx="101600" cy="3683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333500" y="1422400"/>
            <a:ext cx="2286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400" b="1">
                <a:solidFill>
                  <a:srgbClr val="8EDBE0"/>
                </a:solidFill>
                <a:latin typeface="Arial"/>
              </a:rPr>
              <a:t>02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33500" y="2413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182B3A"/>
                </a:solidFill>
                <a:latin typeface="Arial"/>
              </a:rPr>
              <a:t>Encontre qualquer familia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58900" y="3619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5B6872"/>
                </a:solidFill>
                <a:latin typeface="Arial"/>
              </a:rPr>
              <a:t>Pesquise, filtre e compare antes de carregar.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Conhecer a tela principal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- 14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 coluna esquerda traz categorias; o centro reune busca e filtros; os cartoes exibem as familias; o painel Em foco detalha o item selecionado.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Pesquisar por nome ou palavra-chave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- 15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Clique no campo ou use Ctrl+F. Digite parte do nome ou uma palavra-chave e combine a pesquisa com os filtros.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Filtrar por categoria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Use a coluna esquerda para entrar em Cozinha, Sala, Banheiro, Portas, Janelas e outras familias recorrentes.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Refinar com subcategorias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- 17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Abra Todas as subcategorias para separar armarios, bancadas, eletrodomesticos, mesas, cadeiras e outros grupos.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Filtrar por versao do Revit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- 18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Use Todas as versoes para listar tudo ou A verificar para concentrar arquivos que ainda precisam de conferencia.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Ordenar e alternar a visualizacao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- 19</a:t>
            </a:r>
          </a:p>
        </p:txBody>
      </p:sp>
      <p:sp>
        <p:nvSpPr>
          <p:cNvPr id="9" name="Shape 9"/>
          <p:cNvSpPr/>
          <p:nvPr/>
        </p:nvSpPr>
        <p:spPr>
          <a:xfrm>
            <a:off x="571500" y="1397000"/>
            <a:ext cx="3429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71500" y="1397000"/>
            <a:ext cx="88900" cy="18415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5500" y="16002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Nome A-Z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5500" y="2032000"/>
            <a:ext cx="2984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Cria uma ordem previsivel e localiza rapidamente pelo nome.</a:t>
            </a:r>
          </a:p>
        </p:txBody>
      </p:sp>
      <p:sp>
        <p:nvSpPr>
          <p:cNvPr id="13" name="Shape 13"/>
          <p:cNvSpPr/>
          <p:nvPr/>
        </p:nvSpPr>
        <p:spPr>
          <a:xfrm>
            <a:off x="4381500" y="1397000"/>
            <a:ext cx="3429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381500" y="1397000"/>
            <a:ext cx="88900" cy="1841500"/>
          </a:xfrm>
          <a:prstGeom prst="rect">
            <a:avLst/>
          </a:prstGeom>
          <a:solidFill>
            <a:srgbClr val="D49A2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5500" y="16002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Grade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635500" y="2032000"/>
            <a:ext cx="2984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Ajuda a comparar visualmente as previas.</a:t>
            </a:r>
          </a:p>
        </p:txBody>
      </p:sp>
      <p:sp>
        <p:nvSpPr>
          <p:cNvPr id="17" name="Shape 17"/>
          <p:cNvSpPr/>
          <p:nvPr/>
        </p:nvSpPr>
        <p:spPr>
          <a:xfrm>
            <a:off x="8191500" y="1397000"/>
            <a:ext cx="3429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91500" y="1397000"/>
            <a:ext cx="88900" cy="1841500"/>
          </a:xfrm>
          <a:prstGeom prst="rect">
            <a:avLst/>
          </a:prstGeom>
          <a:solidFill>
            <a:srgbClr val="0E6470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445500" y="16002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Lista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45500" y="2032000"/>
            <a:ext cx="2984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Prioriza caminho, tamanho, versao e informacoes textuais.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71500" y="43180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900" b="0">
                <a:solidFill>
                  <a:srgbClr val="5B6872"/>
                </a:solidFill>
                <a:latin typeface="Arial"/>
              </a:rPr>
              <a:t>Use grade para escolher visualmente e lista para auditar os arquivos.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Marcar e consultar favoritos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Clique na estrela do cartao e depois em Favoritas. Mantenha somente os modelos aprovados e mais usados.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Reabrir familias recentes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Recentes reune familias consultadas ou carregadas ha pouco tempo e reduz a repeticao de buscas.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Localizar duplicadas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 aba Duplicadas mostra o resultado da conferencia por conteudo. Se necessario, use Verificar duplicatas por conteudo no menu ?.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Separar o que precisa de revisao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BIBLIOTECA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- 23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 revisar reune itens sem confirmacao de versao, sem previa ou com metadados incompletos.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Trabalhe pelo cartao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- 24</a:t>
            </a:r>
          </a:p>
        </p:txBody>
      </p:sp>
      <p:sp>
        <p:nvSpPr>
          <p:cNvPr id="9" name="Shape 9"/>
          <p:cNvSpPr/>
          <p:nvPr/>
        </p:nvSpPr>
        <p:spPr>
          <a:xfrm>
            <a:off x="825500" y="1397000"/>
            <a:ext cx="101600" cy="3683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333500" y="1422400"/>
            <a:ext cx="2286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400" b="1">
                <a:solidFill>
                  <a:srgbClr val="8EDBE0"/>
                </a:solidFill>
                <a:latin typeface="Arial"/>
              </a:rPr>
              <a:t>03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33500" y="2413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182B3A"/>
                </a:solidFill>
                <a:latin typeface="Arial"/>
              </a:rPr>
              <a:t>Trabalhe pelo cartao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58900" y="3619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5B6872"/>
                </a:solidFill>
                <a:latin typeface="Arial"/>
              </a:rPr>
              <a:t>Detalhes, selecao multipla, favoritos e organizacao.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Abrir os detalhes de uma familia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CARTOES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- 25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Clique uma vez no cartao. Em foco mostra nome, categoria, tamanho, versao, modificacao e acoes disponiveis.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Entender os controles do cartao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CARTOES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9525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b="0">
                <a:solidFill>
                  <a:srgbClr val="5B6872"/>
                </a:solidFill>
                <a:latin typeface="Arial"/>
              </a:rPr>
              <a:t>Clique simples mostra detalhes; duplo clique carrega no Revit; a caixa de selecao serve para lote; a estrela marca favorito.</a:t>
            </a:r>
          </a:p>
        </p:txBody>
      </p:sp>
      <p:sp>
        <p:nvSpPr>
          <p:cNvPr id="10" name="Shape 10"/>
          <p:cNvSpPr/>
          <p:nvPr/>
        </p:nvSpPr>
        <p:spPr>
          <a:xfrm>
            <a:off x="368300" y="1358900"/>
            <a:ext cx="114554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2871" y="1422400"/>
            <a:ext cx="920625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Selecionar varias familias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OPERACOES EM LOTE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- 27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Marque duas ou mais caixas. A barra inferior oferece Carregar selecao, Renomear e Excluir do HD, sempre mostrando a quantidade.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Favoritar uma familia diretamente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CARTOES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- 28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 estrela preenchida envia o item para Favoritas e ajuda a montar uma lista de trabalho recorrente.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Renomear arquivo com seguranca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ORGANIZACAO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- 29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Use Renomear arquivo no painel Em foco. Padronize o nome e preserve a extensao .rfa; depois atualize o indice.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Fixar os mais usados no topo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ORGANIZACAO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Fixar no topo prioriza uma familia nos resultados. A preferencia e de organizacao e nao altera o conteudo do RFA.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Abrir a pasta fisica da familia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ORGANIZACAO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Abrir pasta ajuda a conferir caminho, permissoes e duplicidades. Evite mover arquivos durante a atualizacao do indice.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Carregue e insira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- 32</a:t>
            </a:r>
          </a:p>
        </p:txBody>
      </p:sp>
      <p:sp>
        <p:nvSpPr>
          <p:cNvPr id="9" name="Shape 9"/>
          <p:cNvSpPr/>
          <p:nvPr/>
        </p:nvSpPr>
        <p:spPr>
          <a:xfrm>
            <a:off x="825500" y="1397000"/>
            <a:ext cx="101600" cy="3683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333500" y="1422400"/>
            <a:ext cx="2286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400" b="1">
                <a:solidFill>
                  <a:srgbClr val="8EDBE0"/>
                </a:solidFill>
                <a:latin typeface="Arial"/>
              </a:rPr>
              <a:t>04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33500" y="2413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182B3A"/>
                </a:solidFill>
                <a:latin typeface="Arial"/>
              </a:rPr>
              <a:t>Carregue e insira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58900" y="3619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5B6872"/>
                </a:solidFill>
                <a:latin typeface="Arial"/>
              </a:rPr>
              <a:t>Do cartao a posicao exata dentro da planta.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Carregar a familia no projeto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CARREGAMENTO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- 33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Selecione a familia e clique Carregar no projeto. A confirmacao informa a quantidade e preserva familias ja existentes.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Duplo clique: carregar e inserir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CARREGAMENTO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- 34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O duplo clique carrega, oculta o painel quando configurado e coloca o Revit em Modificar | Colocar Componente. Clique na planta para posicionar.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Ocultar a biblioteca apos inserir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CARREGAMENTO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- 35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Marque Ocultar apos inserir no cabecalho. Para reabrir, clique em Biblioteca de Familias na aba Familia.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Mantenha a biblioteca saudavel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05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- 36</a:t>
            </a:r>
          </a:p>
        </p:txBody>
      </p:sp>
      <p:sp>
        <p:nvSpPr>
          <p:cNvPr id="9" name="Shape 9"/>
          <p:cNvSpPr/>
          <p:nvPr/>
        </p:nvSpPr>
        <p:spPr>
          <a:xfrm>
            <a:off x="825500" y="1397000"/>
            <a:ext cx="101600" cy="3683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333500" y="1422400"/>
            <a:ext cx="2286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400" b="1">
                <a:solidFill>
                  <a:srgbClr val="8EDBE0"/>
                </a:solidFill>
                <a:latin typeface="Arial"/>
              </a:rPr>
              <a:t>05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33500" y="2413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182B3A"/>
                </a:solidFill>
                <a:latin typeface="Arial"/>
              </a:rPr>
              <a:t>Mantenha a biblioteca saudavel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58900" y="3619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5B6872"/>
                </a:solidFill>
                <a:latin typeface="Arial"/>
              </a:rPr>
              <a:t>Atualizacao de RFA, progresso, relatorio e duplicados.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Abrir o menu de manutencao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MANUTENCAO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- 37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9525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b="0">
                <a:solidFill>
                  <a:srgbClr val="5B6872"/>
                </a:solidFill>
                <a:latin typeface="Arial"/>
              </a:rPr>
              <a:t>O menu ? oferece pastas cadastradas, duplicatas, versoes, exclusao de copias exatas, atualizacao de RFA, CSV e diagnostico.</a:t>
            </a:r>
          </a:p>
        </p:txBody>
      </p:sp>
      <p:sp>
        <p:nvSpPr>
          <p:cNvPr id="10" name="Shape 10"/>
          <p:cNvSpPr/>
          <p:nvPr/>
        </p:nvSpPr>
        <p:spPr>
          <a:xfrm>
            <a:off x="368300" y="1358900"/>
            <a:ext cx="114554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2871" y="1422400"/>
            <a:ext cx="920625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Atualizar familias sem interromper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MANUTENCAO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- 38</a:t>
            </a:r>
          </a:p>
        </p:txBody>
      </p:sp>
      <p:sp>
        <p:nvSpPr>
          <p:cNvPr id="9" name="Shape 9"/>
          <p:cNvSpPr/>
          <p:nvPr/>
        </p:nvSpPr>
        <p:spPr>
          <a:xfrm>
            <a:off x="571500" y="1333500"/>
            <a:ext cx="3429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71500" y="1333500"/>
            <a:ext cx="88900" cy="18415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5500" y="1536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Identificar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5500" y="1968500"/>
            <a:ext cx="2984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Mostra quais arquivos tem versao diferente.</a:t>
            </a:r>
          </a:p>
        </p:txBody>
      </p:sp>
      <p:sp>
        <p:nvSpPr>
          <p:cNvPr id="13" name="Shape 13"/>
          <p:cNvSpPr/>
          <p:nvPr/>
        </p:nvSpPr>
        <p:spPr>
          <a:xfrm>
            <a:off x="4381500" y="1333500"/>
            <a:ext cx="3429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381500" y="1333500"/>
            <a:ext cx="88900" cy="1841500"/>
          </a:xfrm>
          <a:prstGeom prst="rect">
            <a:avLst/>
          </a:prstGeom>
          <a:solidFill>
            <a:srgbClr val="D49A2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5500" y="1536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Compatibilizar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635500" y="1968500"/>
            <a:ext cx="2984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Atualiza somente RFA compativel com o Revit atual.</a:t>
            </a:r>
          </a:p>
        </p:txBody>
      </p:sp>
      <p:sp>
        <p:nvSpPr>
          <p:cNvPr id="17" name="Shape 17"/>
          <p:cNvSpPr/>
          <p:nvPr/>
        </p:nvSpPr>
        <p:spPr>
          <a:xfrm>
            <a:off x="8191500" y="1333500"/>
            <a:ext cx="3429000" cy="1841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91500" y="1333500"/>
            <a:ext cx="88900" cy="1841500"/>
          </a:xfrm>
          <a:prstGeom prst="rect">
            <a:avLst/>
          </a:prstGeom>
          <a:solidFill>
            <a:srgbClr val="0E6470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445500" y="1536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Continuar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45500" y="1968500"/>
            <a:ext cx="2984500" cy="1054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Ignora o arquivo com problema e segue para o proximo.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71500" y="4254500"/>
            <a:ext cx="10795000" cy="444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0">
                <a:solidFill>
                  <a:srgbClr val="5B6872"/>
                </a:solidFill>
                <a:latin typeface="Arial"/>
              </a:rPr>
              <a:t>Faca backup e deixe a rotina trabalhar sem exigir confirmacao a cada arquivo.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Acompanhar o percentual em tempo real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MANUTENCAO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- 39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52500" y="1524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200" b="1">
                <a:solidFill>
                  <a:srgbClr val="182B3A"/>
                </a:solidFill>
                <a:latin typeface="Arial"/>
              </a:rPr>
              <a:t>Atualizacao em andamento</a:t>
            </a:r>
          </a:p>
        </p:txBody>
      </p:sp>
      <p:sp>
        <p:nvSpPr>
          <p:cNvPr id="10" name="Shape 10"/>
          <p:cNvSpPr/>
          <p:nvPr/>
        </p:nvSpPr>
        <p:spPr>
          <a:xfrm>
            <a:off x="952500" y="2349500"/>
            <a:ext cx="10033000" cy="3810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52500" y="2349500"/>
            <a:ext cx="6413500" cy="381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207000" y="2387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Arial"/>
              </a:rPr>
              <a:t>64%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52500" y="31115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700" b="0">
                <a:solidFill>
                  <a:srgbClr val="1F2933"/>
                </a:solidFill>
                <a:latin typeface="Arial"/>
              </a:rPr>
              <a:t>Arquivos processados: 128 de 200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52500" y="3594100"/>
            <a:ext cx="6985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700" b="0">
                <a:solidFill>
                  <a:srgbClr val="5B6872"/>
                </a:solidFill>
                <a:latin typeface="Arial"/>
              </a:rPr>
              <a:t>Sucessos: 121    Ignorados: 5    Erros: 2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52500" y="4508500"/>
            <a:ext cx="9652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0">
                <a:solidFill>
                  <a:srgbClr val="5B6872"/>
                </a:solidFill>
                <a:latin typeface="Arial"/>
              </a:rPr>
              <a:t>O percentual deve continuar visivel para voce acompanhar o avanco sem confirmar cada item.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Ler o relatorio da atualizacao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MANUTENCAO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- 40</a:t>
            </a:r>
          </a:p>
        </p:txBody>
      </p:sp>
      <p:sp>
        <p:nvSpPr>
          <p:cNvPr id="9" name="Shape 9"/>
          <p:cNvSpPr/>
          <p:nvPr/>
        </p:nvSpPr>
        <p:spPr>
          <a:xfrm>
            <a:off x="635000" y="1460500"/>
            <a:ext cx="3429000" cy="1968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35000" y="1460500"/>
            <a:ext cx="88900" cy="19685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89000" y="1663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Atualizados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89000" y="2095500"/>
            <a:ext cx="2984500" cy="1181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Arquivos substituidos pela versao compativel.</a:t>
            </a:r>
          </a:p>
        </p:txBody>
      </p:sp>
      <p:sp>
        <p:nvSpPr>
          <p:cNvPr id="13" name="Shape 13"/>
          <p:cNvSpPr/>
          <p:nvPr/>
        </p:nvSpPr>
        <p:spPr>
          <a:xfrm>
            <a:off x="4381500" y="1460500"/>
            <a:ext cx="3429000" cy="1968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381500" y="1460500"/>
            <a:ext cx="88900" cy="1968500"/>
          </a:xfrm>
          <a:prstGeom prst="rect">
            <a:avLst/>
          </a:prstGeom>
          <a:solidFill>
            <a:srgbClr val="D49A2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5500" y="1663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Ignorados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635500" y="2095500"/>
            <a:ext cx="2984500" cy="1181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Incompativeis, ausentes, bloqueados ou sem atualizacao.</a:t>
            </a:r>
          </a:p>
        </p:txBody>
      </p:sp>
      <p:sp>
        <p:nvSpPr>
          <p:cNvPr id="17" name="Shape 17"/>
          <p:cNvSpPr/>
          <p:nvPr/>
        </p:nvSpPr>
        <p:spPr>
          <a:xfrm>
            <a:off x="8128000" y="1460500"/>
            <a:ext cx="3429000" cy="19685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28000" y="1460500"/>
            <a:ext cx="88900" cy="1968500"/>
          </a:xfrm>
          <a:prstGeom prst="rect">
            <a:avLst/>
          </a:prstGeom>
          <a:solidFill>
            <a:srgbClr val="B43C3C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82000" y="1663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Erros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382000" y="2095500"/>
            <a:ext cx="2984500" cy="1181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Arquivo, etapa e mensagem para correcao posterior.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35000" y="4445000"/>
            <a:ext cx="10795000" cy="571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0">
                <a:solidFill>
                  <a:srgbClr val="5B6872"/>
                </a:solidFill>
                <a:latin typeface="Arial"/>
              </a:rPr>
              <a:t>Revise somente as excecoes; nao repita manualmente os arquivos concluidos.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Excluir duplicados com criterio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MANUTENCAO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Use a comparacao por conteudo. Excluir duplicatas exatas deve remover somente copias iguais; confirme a pasta e mantenha backup.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Excluir arquivos selecionados do HD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MANUTENCAO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1800" y="1193800"/>
            <a:ext cx="4889500" cy="482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Selecione os cartoes e clique Excluir do HD somente depois de conferir nomes, caminhos e duplicidade. Nunca use para arquivos da pasta Projeto.</a:t>
            </a:r>
          </a:p>
        </p:txBody>
      </p:sp>
      <p:sp>
        <p:nvSpPr>
          <p:cNvPr id="10" name="Shape 10"/>
          <p:cNvSpPr/>
          <p:nvPr/>
        </p:nvSpPr>
        <p:spPr>
          <a:xfrm>
            <a:off x="5397500" y="1104900"/>
            <a:ext cx="64770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1"/>
            </a:solidFill>
          </a:ln>
        </p:spPr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1000" y="1989297"/>
            <a:ext cx="6350000" cy="331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Finalize com seguranca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06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- 43</a:t>
            </a:r>
          </a:p>
        </p:txBody>
      </p:sp>
      <p:sp>
        <p:nvSpPr>
          <p:cNvPr id="9" name="Shape 9"/>
          <p:cNvSpPr/>
          <p:nvPr/>
        </p:nvSpPr>
        <p:spPr>
          <a:xfrm>
            <a:off x="825500" y="1397000"/>
            <a:ext cx="101600" cy="3683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333500" y="1422400"/>
            <a:ext cx="2286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400" b="1">
                <a:solidFill>
                  <a:srgbClr val="8EDBE0"/>
                </a:solidFill>
                <a:latin typeface="Arial"/>
              </a:rPr>
              <a:t>06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33500" y="24130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>
                <a:solidFill>
                  <a:srgbClr val="182B3A"/>
                </a:solidFill>
                <a:latin typeface="Arial"/>
              </a:rPr>
              <a:t>Finalize com seguranca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58900" y="3619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5B6872"/>
                </a:solidFill>
                <a:latin typeface="Arial"/>
              </a:rPr>
              <a:t>Organizacao recomendada, diagnostico e checklist.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Fluxo recomendado de organizacao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BOAS PRATICAS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- 44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89000" y="15240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1595A3"/>
                </a:solidFill>
                <a:latin typeface="Arial"/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651000" y="1587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900" b="1">
                <a:solidFill>
                  <a:srgbClr val="182B3A"/>
                </a:solidFill>
                <a:latin typeface="Arial"/>
              </a:rPr>
              <a:t>Atualize o indice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89000" y="26035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1595A3"/>
                </a:solidFill>
                <a:latin typeface="Arial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51000" y="2667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900" b="1">
                <a:solidFill>
                  <a:srgbClr val="182B3A"/>
                </a:solidFill>
                <a:latin typeface="Arial"/>
              </a:rPr>
              <a:t>Corrija categorias e subcategorias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89000" y="36830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1595A3"/>
                </a:solidFill>
                <a:latin typeface="Arial"/>
              </a:rPr>
              <a:t>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651000" y="3746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900" b="1">
                <a:solidFill>
                  <a:srgbClr val="182B3A"/>
                </a:solidFill>
                <a:latin typeface="Arial"/>
              </a:rPr>
              <a:t>Revise versoes e duplicidades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89000" y="47625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1595A3"/>
                </a:solidFill>
                <a:latin typeface="Arial"/>
              </a:rPr>
              <a:t>4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651000" y="4826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900" b="1">
                <a:solidFill>
                  <a:srgbClr val="182B3A"/>
                </a:solidFill>
                <a:latin typeface="Arial"/>
              </a:rPr>
              <a:t>Renomeie e fixe os mais usados</a:t>
            </a:r>
          </a:p>
        </p:txBody>
      </p:sp>
      <p:sp>
        <p:nvSpPr>
          <p:cNvPr id="17" name="Shape 17"/>
          <p:cNvSpPr/>
          <p:nvPr/>
        </p:nvSpPr>
        <p:spPr>
          <a:xfrm>
            <a:off x="7429500" y="1524000"/>
            <a:ext cx="3810000" cy="3619500"/>
          </a:xfrm>
          <a:prstGeom prst="rect">
            <a:avLst/>
          </a:prstGeom>
          <a:solidFill>
            <a:srgbClr val="E9F7F7"/>
          </a:solidFill>
          <a:ln w="12700">
            <a:solidFill>
              <a:srgbClr val="1595A3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810500" y="2032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1">
                <a:solidFill>
                  <a:srgbClr val="0E6470"/>
                </a:solidFill>
                <a:latin typeface="Arial"/>
              </a:rPr>
              <a:t>Resultado esperado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810500" y="2730500"/>
            <a:ext cx="2984500" cy="1587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700" b="0">
                <a:solidFill>
                  <a:srgbClr val="1F2933"/>
                </a:solidFill>
                <a:latin typeface="Arial"/>
              </a:rPr>
              <a:t>Uma familia de cozinha fica na pasta de cozinha; sala na pasta de sala; e assim sucessivamente, sem copias espalhadas.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Quando algo nao funciona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SOLUCAO DE PROBLEMAS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- 45</a:t>
            </a:r>
          </a:p>
        </p:txBody>
      </p:sp>
      <p:sp>
        <p:nvSpPr>
          <p:cNvPr id="9" name="Shape 9"/>
          <p:cNvSpPr/>
          <p:nvPr/>
        </p:nvSpPr>
        <p:spPr>
          <a:xfrm>
            <a:off x="571500" y="1333500"/>
            <a:ext cx="3429000" cy="177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71500" y="1333500"/>
            <a:ext cx="88900" cy="1778000"/>
          </a:xfrm>
          <a:prstGeom prst="rect">
            <a:avLst/>
          </a:prstGeom>
          <a:solidFill>
            <a:srgbClr val="B43C3C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5500" y="1536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Familia nao carrega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5500" y="1968500"/>
            <a:ext cx="2984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Confira a versao, permissoes e se o projeto esta aberto.</a:t>
            </a:r>
          </a:p>
        </p:txBody>
      </p:sp>
      <p:sp>
        <p:nvSpPr>
          <p:cNvPr id="13" name="Shape 13"/>
          <p:cNvSpPr/>
          <p:nvPr/>
        </p:nvSpPr>
        <p:spPr>
          <a:xfrm>
            <a:off x="4381500" y="1333500"/>
            <a:ext cx="3429000" cy="177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381500" y="1333500"/>
            <a:ext cx="88900" cy="1778000"/>
          </a:xfrm>
          <a:prstGeom prst="rect">
            <a:avLst/>
          </a:prstGeom>
          <a:solidFill>
            <a:srgbClr val="D49A2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35500" y="1536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Atualizacao falha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635500" y="1968500"/>
            <a:ext cx="2984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Leia o relatorio, ignore o item problematico e continue com os demais.</a:t>
            </a:r>
          </a:p>
        </p:txBody>
      </p:sp>
      <p:sp>
        <p:nvSpPr>
          <p:cNvPr id="17" name="Shape 17"/>
          <p:cNvSpPr/>
          <p:nvPr/>
        </p:nvSpPr>
        <p:spPr>
          <a:xfrm>
            <a:off x="8191500" y="1333500"/>
            <a:ext cx="3429000" cy="177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E8EEF1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91500" y="1333500"/>
            <a:ext cx="88900" cy="17780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445500" y="1536700"/>
            <a:ext cx="29845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1">
                <a:solidFill>
                  <a:srgbClr val="182B3A"/>
                </a:solidFill>
                <a:latin typeface="Arial"/>
              </a:rPr>
              <a:t>Cartao sem previa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445500" y="1968500"/>
            <a:ext cx="2984500" cy="990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1F2933"/>
                </a:solidFill>
                <a:latin typeface="Arial"/>
              </a:rPr>
              <a:t>Use detalhes ou Abrir pasta; a ausencia de imagem nao impede a auditoria.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71500" y="4254500"/>
            <a:ext cx="10795000" cy="444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0">
                <a:solidFill>
                  <a:srgbClr val="5B6872"/>
                </a:solidFill>
                <a:latin typeface="Arial"/>
              </a:rPr>
              <a:t>Use Ultimo diagnostico no menu ? para revisar a ultima execucao.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Checklist rapido do usuario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ENCERRAMENTO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89000" y="1333500"/>
            <a:ext cx="7112000" cy="4064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1F2933"/>
                </a:solidFill>
                <a:latin typeface="Arial"/>
              </a:rPr>
              <a:t>[ ] Revit aberto com o projeto correto`n[ ] Aba Familia localizada`n[ ] Ativacao ou teste conferido`n[ ] Busca e categoria selecionadas`n[ ] Versao do arquivo verificada`n[ ] Familia carregada e inserida na planta`n[ ] Ocultar apos inserir ajustado`n[ ] Backup feito antes de excluir ou atualizar`n[ ] Relatorio lido apos a manutencao</a:t>
            </a:r>
          </a:p>
        </p:txBody>
      </p:sp>
      <p:sp>
        <p:nvSpPr>
          <p:cNvPr id="10" name="Shape 10"/>
          <p:cNvSpPr/>
          <p:nvPr/>
        </p:nvSpPr>
        <p:spPr>
          <a:xfrm>
            <a:off x="8636000" y="1714500"/>
            <a:ext cx="2794000" cy="2794000"/>
          </a:xfrm>
          <a:prstGeom prst="rect">
            <a:avLst/>
          </a:prstGeom>
          <a:solidFill>
            <a:srgbClr val="E9F7F7"/>
          </a:solidFill>
          <a:ln w="12700">
            <a:solidFill>
              <a:srgbClr val="1595A3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9271000" y="2286000"/>
            <a:ext cx="1587500" cy="482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000" b="1">
                <a:solidFill>
                  <a:srgbClr val="0E6470"/>
                </a:solidFill>
                <a:latin typeface="Arial"/>
              </a:rPr>
              <a:t>Pronto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017000" y="3111500"/>
            <a:ext cx="2095500" cy="952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Biblioteca centralizada, pesquisavel e pronta para uso no Revit.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04800" y="1651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500" b="1">
                <a:solidFill>
                  <a:srgbClr val="FFFFFF"/>
                </a:solidFill>
                <a:latin typeface="Arial"/>
              </a:rPr>
              <a:t>Resumo das funcoes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499600" y="2286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900" b="1">
                <a:solidFill>
                  <a:srgbClr val="B9E4E7"/>
                </a:solidFill>
                <a:latin typeface="Arial"/>
              </a:rPr>
              <a:t>ENCERRAMENTO</a:t>
            </a:r>
          </a:p>
        </p:txBody>
      </p:sp>
      <p:sp>
        <p:nvSpPr>
          <p:cNvPr id="6" name="Shape 6"/>
          <p:cNvSpPr/>
          <p:nvPr/>
        </p:nvSpPr>
        <p:spPr>
          <a:xfrm>
            <a:off x="304800" y="6540500"/>
            <a:ext cx="11582400" cy="12700"/>
          </a:xfrm>
          <a:prstGeom prst="rect">
            <a:avLst/>
          </a:prstGeom>
          <a:solidFill>
            <a:srgbClr val="E8EEF1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4800" y="6616700"/>
            <a:ext cx="44450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BIM - Biblioteca de Familias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6616700"/>
            <a:ext cx="1092200" cy="152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800" b="0">
                <a:solidFill>
                  <a:srgbClr val="5B6872"/>
                </a:solidFill>
                <a:latin typeface="Arial"/>
              </a:rPr>
              <a:t>Tutorial - 47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5000" y="13335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rgbClr val="0E6470"/>
                </a:solidFill>
                <a:latin typeface="Arial"/>
              </a:rPr>
              <a:t>Acesso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175000" y="13335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Ribbon Familia - Biblioteca de Familias - Ativador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35000" y="19685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rgbClr val="0E6470"/>
                </a:solidFill>
                <a:latin typeface="Arial"/>
              </a:rPr>
              <a:t>Pesquisa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175000" y="19685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Nome - categoria - subcategoria - versao - ordenacao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5000" y="26035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rgbClr val="0E6470"/>
                </a:solidFill>
                <a:latin typeface="Arial"/>
              </a:rPr>
              <a:t>Acoes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175000" y="2603500"/>
            <a:ext cx="8255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Detalhes - favorito - recente - carregar - inserir - renomear - fixar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35000" y="32385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rgbClr val="0E6470"/>
                </a:solidFill>
                <a:latin typeface="Arial"/>
              </a:rPr>
              <a:t>Manutencao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75000" y="3238500"/>
            <a:ext cx="8255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1F2933"/>
                </a:solidFill>
                <a:latin typeface="Arial"/>
              </a:rPr>
              <a:t>Atualizar RFA - progresso - relatorio - duplicados - exclusao - diagnostico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35000" y="4191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rgbClr val="0E6470"/>
                </a:solidFill>
                <a:latin typeface="Arial"/>
              </a:rPr>
              <a:t>Principio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175000" y="41910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b="1">
                <a:solidFill>
                  <a:srgbClr val="182B3A"/>
                </a:solidFill>
                <a:latin typeface="Arial"/>
              </a:rPr>
              <a:t>Organizar a biblioteca sem mexer na pasta de projetos.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B3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889000" y="1524000"/>
            <a:ext cx="10414000" cy="431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500" b="1">
                <a:solidFill>
                  <a:srgbClr val="8EDBE0"/>
                </a:solidFill>
                <a:latin typeface="Arial"/>
              </a:rPr>
              <a:t>FIM DO TUTORIAL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89000" y="2260600"/>
            <a:ext cx="10414000" cy="838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800" b="1">
                <a:solidFill>
                  <a:srgbClr val="FFFFFF"/>
                </a:solidFill>
                <a:latin typeface="Arial"/>
              </a:rPr>
              <a:t>Familias, ao seu alcance.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14400" y="3619500"/>
            <a:ext cx="9652000" cy="698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100" b="0">
                <a:solidFill>
                  <a:srgbClr val="D7E5EA"/>
                </a:solidFill>
                <a:latin typeface="Arial"/>
              </a:rPr>
              <a:t>Use a biblioteca como ponto unico de busca, conferencia e insercao no Revit.</a:t>
            </a:r>
          </a:p>
        </p:txBody>
      </p:sp>
      <p:sp>
        <p:nvSpPr>
          <p:cNvPr id="6" name="Shape 6"/>
          <p:cNvSpPr/>
          <p:nvPr/>
        </p:nvSpPr>
        <p:spPr>
          <a:xfrm>
            <a:off x="914400" y="4826000"/>
            <a:ext cx="7747000" cy="25400"/>
          </a:xfrm>
          <a:prstGeom prst="rect">
            <a:avLst/>
          </a:prstGeom>
          <a:solidFill>
            <a:srgbClr val="1595A3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914400" y="5207000"/>
            <a:ext cx="9525000" cy="3175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b="0">
                <a:solidFill>
                  <a:srgbClr val="8EDBE0"/>
                </a:solidFill>
                <a:latin typeface="Arial"/>
              </a:rPr>
              <a:t>Tutorial gerado com capturas reais do plugin em execucao.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95000" y="5715000"/>
            <a:ext cx="889000" cy="508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2200" b="1">
                <a:solidFill>
                  <a:srgbClr val="FFFFFF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(4:3)</PresentationFormat>
  <Paragraphs>0</Paragraphs>
  <Slides>48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49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CodexSandboxOffline</dc:creator>
  <cp:lastModifiedBy>CodexSandboxOffline</cp:lastModifiedBy>
  <cp:revision>1</cp:revision>
  <dcterms:created xsi:type="dcterms:W3CDTF">2026-10-03T03:01:42Z</dcterms:created>
  <dcterms:modified xsi:type="dcterms:W3CDTF">2026-10-03T03:01:43Z</dcterms:modified>
</cp:coreProperties>
</file>